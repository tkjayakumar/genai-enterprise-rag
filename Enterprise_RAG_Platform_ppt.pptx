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59" r:id="rId5"/>
    <p:sldId id="271" r:id="rId6"/>
    <p:sldId id="261" r:id="rId7"/>
    <p:sldId id="262" r:id="rId8"/>
    <p:sldId id="274" r:id="rId9"/>
    <p:sldId id="273" r:id="rId10"/>
    <p:sldId id="267" r:id="rId11"/>
    <p:sldId id="272" r:id="rId12"/>
    <p:sldId id="275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0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ln w="19050">
            <a:solidFill>
              <a:srgbClr val="323C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509760" y="-1645920"/>
            <a:ext cx="5394960" cy="5394960"/>
          </a:xfrm>
          <a:prstGeom prst="ellipse">
            <a:avLst/>
          </a:prstGeom>
          <a:ln w="1524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41280" y="-914400"/>
            <a:ext cx="3931920" cy="3931920"/>
          </a:xfrm>
          <a:prstGeom prst="ellipse">
            <a:avLst/>
          </a:prstGeom>
          <a:ln w="12700">
            <a:solidFill>
              <a:srgbClr val="4550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66960" y="1417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475720" y="3200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527280" y="23774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789920" y="30632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006840" y="-27432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GOVERNED AND CITED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RAG Platform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conversational, cited, and governed knowledge layer across documents, policies, and enterprise systems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869034" cy="402336"/>
          </a:xfrm>
          <a:prstGeom prst="roundRect">
            <a:avLst>
              <a:gd name="adj" fmla="val 18182"/>
            </a:avLst>
          </a:prstGeom>
          <a:solidFill>
            <a:srgbClr val="2A3372"/>
          </a:solidFill>
          <a:ln w="9525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869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10282" y="5212080"/>
            <a:ext cx="1600200" cy="402336"/>
          </a:xfrm>
          <a:prstGeom prst="roundRect">
            <a:avLst>
              <a:gd name="adj" fmla="val 18182"/>
            </a:avLst>
          </a:prstGeom>
          <a:solidFill>
            <a:srgbClr val="2A3372"/>
          </a:solidFill>
          <a:ln w="9525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10282" y="5212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11650" y="5212080"/>
            <a:ext cx="1510589" cy="402336"/>
          </a:xfrm>
          <a:prstGeom prst="roundRect">
            <a:avLst>
              <a:gd name="adj" fmla="val 18182"/>
            </a:avLst>
          </a:prstGeom>
          <a:solidFill>
            <a:srgbClr val="2A3372"/>
          </a:solidFill>
          <a:ln w="9525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11650" y="5212080"/>
            <a:ext cx="15105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3406" y="5212080"/>
            <a:ext cx="1420978" cy="402336"/>
          </a:xfrm>
          <a:prstGeom prst="roundRect">
            <a:avLst>
              <a:gd name="adj" fmla="val 18182"/>
            </a:avLst>
          </a:prstGeom>
          <a:solidFill>
            <a:srgbClr val="2A3372"/>
          </a:solidFill>
          <a:ln w="9525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23406" y="5212080"/>
            <a:ext cx="1420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45552" y="5212080"/>
            <a:ext cx="1152144" cy="402336"/>
          </a:xfrm>
          <a:prstGeom prst="roundRect">
            <a:avLst>
              <a:gd name="adj" fmla="val 18182"/>
            </a:avLst>
          </a:prstGeom>
          <a:solidFill>
            <a:srgbClr val="2A3372"/>
          </a:solidFill>
          <a:ln w="9525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845552" y="521208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Enterprise Knowledge Modernization Initiative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9249B-BC17-B27B-FFAF-9FAEAD21A924}"/>
              </a:ext>
            </a:extLst>
          </p:cNvPr>
          <p:cNvSpPr txBox="1"/>
          <p:nvPr/>
        </p:nvSpPr>
        <p:spPr>
          <a:xfrm>
            <a:off x="7845552" y="6171294"/>
            <a:ext cx="3319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Jayakumar T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everywhere in the organization — but trusted answers are hard to find fast.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6F8FC"/>
          </a:solidFill>
          <a:ln w="12700">
            <a:solidFill>
              <a:srgbClr val="E2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5234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832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Content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904488"/>
            <a:ext cx="2157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emails, wikis, and policies live in disconnected silos across the enterprise.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6F8FC"/>
          </a:solidFill>
          <a:ln w="12700">
            <a:solidFill>
              <a:srgbClr val="E2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675888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75234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3832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Discovery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904488"/>
            <a:ext cx="2157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spend hours searching instead of working, often settling for outdated results.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33172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6F8FC"/>
          </a:solidFill>
          <a:ln w="12700">
            <a:solidFill>
              <a:srgbClr val="E2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510528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75234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3832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Trust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904488"/>
            <a:ext cx="2157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lack source traceability, so people can't verify accuracy before acting on them.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33172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6F8FC"/>
          </a:solidFill>
          <a:ln w="12700">
            <a:solidFill>
              <a:srgbClr val="E2E7F3"/>
            </a:solidFill>
            <a:prstDash val="solid"/>
          </a:ln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345168" y="26243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275234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3832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08592" y="3904488"/>
            <a:ext cx="21579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knowledge is exposed without role-based access or audit controls.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lose significant productive time weekly hunting for information that already exists somewhere in the org.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1600" dirty="0"/>
          </a:p>
        </p:txBody>
      </p:sp>
      <p:pic>
        <p:nvPicPr>
          <p:cNvPr id="4" name="Image 0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5336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1426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enterprise documents</a:t>
            </a:r>
            <a:endParaRPr lang="en-US" sz="1300" dirty="0"/>
          </a:p>
        </p:txBody>
      </p:sp>
      <p:pic>
        <p:nvPicPr>
          <p:cNvPr id="6" name="Image 1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767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content into embeddings</a:t>
            </a:r>
            <a:endParaRPr lang="en-US" sz="1300" dirty="0"/>
          </a:p>
        </p:txBody>
      </p:sp>
      <p:pic>
        <p:nvPicPr>
          <p:cNvPr id="8" name="Image 2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0008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231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vectors in a Vector Database</a:t>
            </a:r>
            <a:endParaRPr lang="en-US" sz="1300" dirty="0"/>
          </a:p>
        </p:txBody>
      </p:sp>
      <p:pic>
        <p:nvPicPr>
          <p:cNvPr id="10" name="Image 3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5234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2633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knowledge using Semantic Search</a:t>
            </a:r>
            <a:endParaRPr lang="en-US" sz="1300" dirty="0"/>
          </a:p>
        </p:txBody>
      </p:sp>
      <p:pic>
        <p:nvPicPr>
          <p:cNvPr id="12" name="Image 4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035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LLM to generate accurate responses</a:t>
            </a:r>
            <a:endParaRPr lang="en-US" sz="1300" dirty="0"/>
          </a:p>
        </p:txBody>
      </p:sp>
      <p:pic>
        <p:nvPicPr>
          <p:cNvPr id="14" name="Image 5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57016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6112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citations for every answer</a:t>
            </a:r>
            <a:endParaRPr lang="en-US" sz="1300" dirty="0"/>
          </a:p>
        </p:txBody>
      </p:sp>
      <p:pic>
        <p:nvPicPr>
          <p:cNvPr id="16" name="Image 6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9352"/>
            <a:ext cx="201168" cy="2011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96112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enterprise security and governance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548640" y="482803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1"/>
          <p:cNvSpPr/>
          <p:nvPr/>
        </p:nvSpPr>
        <p:spPr>
          <a:xfrm>
            <a:off x="548640" y="4828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1892808" y="482803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3"/>
          <p:cNvSpPr/>
          <p:nvPr/>
        </p:nvSpPr>
        <p:spPr>
          <a:xfrm>
            <a:off x="1892808" y="4828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responses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3236976" y="482803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5"/>
          <p:cNvSpPr/>
          <p:nvPr/>
        </p:nvSpPr>
        <p:spPr>
          <a:xfrm>
            <a:off x="3236976" y="4828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4581144" y="482803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7"/>
          <p:cNvSpPr/>
          <p:nvPr/>
        </p:nvSpPr>
        <p:spPr>
          <a:xfrm>
            <a:off x="4581144" y="4828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sharing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6903720" y="123444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19"/>
          <p:cNvSpPr/>
          <p:nvPr/>
        </p:nvSpPr>
        <p:spPr>
          <a:xfrm>
            <a:off x="6903720" y="1234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 rot="10800000">
            <a:off x="9162288" y="1819656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1"/>
          <p:cNvSpPr/>
          <p:nvPr/>
        </p:nvSpPr>
        <p:spPr>
          <a:xfrm>
            <a:off x="6903720" y="1933956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6903720" y="19339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 rot="10800000">
            <a:off x="9162288" y="2519172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6903720" y="2633472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25"/>
          <p:cNvSpPr/>
          <p:nvPr/>
        </p:nvSpPr>
        <p:spPr>
          <a:xfrm>
            <a:off x="6903720" y="26334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 rot="10800000">
            <a:off x="9162288" y="3218688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6903720" y="3332988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6903720" y="333298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 rot="10800000">
            <a:off x="9162288" y="3918204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6903720" y="4032504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6903720" y="40325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41" name="Shape 32"/>
          <p:cNvSpPr/>
          <p:nvPr/>
        </p:nvSpPr>
        <p:spPr>
          <a:xfrm rot="10800000">
            <a:off x="9162288" y="4617720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6903720" y="473202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5DCF0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903720" y="47320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350" dirty="0"/>
          </a:p>
        </p:txBody>
      </p:sp>
      <p:sp>
        <p:nvSpPr>
          <p:cNvPr id="44" name="Shape 35"/>
          <p:cNvSpPr/>
          <p:nvPr/>
        </p:nvSpPr>
        <p:spPr>
          <a:xfrm rot="10800000">
            <a:off x="9162288" y="5317236"/>
            <a:ext cx="146304" cy="914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6"/>
          <p:cNvSpPr/>
          <p:nvPr/>
        </p:nvSpPr>
        <p:spPr>
          <a:xfrm>
            <a:off x="6903720" y="5431536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37"/>
          <p:cNvSpPr/>
          <p:nvPr/>
        </p:nvSpPr>
        <p:spPr>
          <a:xfrm>
            <a:off x="6903720" y="54315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44168" y="1819656"/>
            <a:ext cx="530352" cy="530352"/>
          </a:xfrm>
          <a:prstGeom prst="ellipse">
            <a:avLst/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fold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31089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3689604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5800" y="36896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4270248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 / SharePoint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85800" y="4850892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" y="48508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5431536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85800" y="54315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3589020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802636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598164" y="1819656"/>
            <a:ext cx="530352" cy="530352"/>
          </a:xfrm>
          <a:prstGeom prst="ellipse">
            <a:avLst/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icons/layers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36" y="193852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94076" y="2468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Processing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2939796" y="31089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2939796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939796" y="3689604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939796" y="36896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/ OCR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939796" y="4270248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2939796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939796" y="4850892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2939796" y="48508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Tagging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905756" y="3589020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5056632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5852160" y="1819656"/>
            <a:ext cx="530352" cy="530352"/>
          </a:xfrm>
          <a:prstGeom prst="ellipse">
            <a:avLst/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2" descr="icons/databas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1938528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48072" y="2468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Layer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5193792" y="31089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/>
          <p:nvPr/>
        </p:nvSpPr>
        <p:spPr>
          <a:xfrm>
            <a:off x="5193792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193792" y="3689604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/>
          <p:nvPr/>
        </p:nvSpPr>
        <p:spPr>
          <a:xfrm>
            <a:off x="5193792" y="36896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193792" y="4270248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/>
          <p:nvPr/>
        </p:nvSpPr>
        <p:spPr>
          <a:xfrm>
            <a:off x="5193792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193792" y="4850892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5193792" y="48508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7159752" y="3589020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5" name="Shape 40"/>
          <p:cNvSpPr/>
          <p:nvPr/>
        </p:nvSpPr>
        <p:spPr>
          <a:xfrm>
            <a:off x="7310628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8106156" y="1819656"/>
            <a:ext cx="530352" cy="530352"/>
          </a:xfrm>
          <a:prstGeom prst="ellipse">
            <a:avLst/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3" descr="icons/cpu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028" y="1938528"/>
            <a:ext cx="292608" cy="29260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7402068" y="2468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Orchestration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7447788" y="31089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7447788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Retriever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7447788" y="3689604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7447788" y="36896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7447788" y="4270248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8"/>
          <p:cNvSpPr/>
          <p:nvPr/>
        </p:nvSpPr>
        <p:spPr>
          <a:xfrm>
            <a:off x="7447788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7447788" y="4850892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7447788" y="48508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Engine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9413748" y="3589020"/>
            <a:ext cx="224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58" name="Shape 52"/>
          <p:cNvSpPr/>
          <p:nvPr/>
        </p:nvSpPr>
        <p:spPr>
          <a:xfrm>
            <a:off x="9564624" y="1600200"/>
            <a:ext cx="2121408" cy="4434840"/>
          </a:xfrm>
          <a:prstGeom prst="roundRect">
            <a:avLst>
              <a:gd name="adj" fmla="val 3448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3"/>
          <p:cNvSpPr/>
          <p:nvPr/>
        </p:nvSpPr>
        <p:spPr>
          <a:xfrm>
            <a:off x="10360152" y="1819656"/>
            <a:ext cx="530352" cy="530352"/>
          </a:xfrm>
          <a:prstGeom prst="ellipse">
            <a:avLst/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Image 4" descr="icons/messag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024" y="1938528"/>
            <a:ext cx="292608" cy="29260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9656064" y="24688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&amp; Governance</a:t>
            </a:r>
            <a:endParaRPr lang="en-US" sz="1300" dirty="0"/>
          </a:p>
        </p:txBody>
      </p:sp>
      <p:sp>
        <p:nvSpPr>
          <p:cNvPr id="62" name="Shape 55"/>
          <p:cNvSpPr/>
          <p:nvPr/>
        </p:nvSpPr>
        <p:spPr>
          <a:xfrm>
            <a:off x="9701784" y="3108960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6"/>
          <p:cNvSpPr/>
          <p:nvPr/>
        </p:nvSpPr>
        <p:spPr>
          <a:xfrm>
            <a:off x="9701784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Search UI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9701784" y="3689604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58"/>
          <p:cNvSpPr/>
          <p:nvPr/>
        </p:nvSpPr>
        <p:spPr>
          <a:xfrm>
            <a:off x="9701784" y="368960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Plugins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9701784" y="4270248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0"/>
          <p:cNvSpPr/>
          <p:nvPr/>
        </p:nvSpPr>
        <p:spPr>
          <a:xfrm>
            <a:off x="9701784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 dirty="0"/>
          </a:p>
        </p:txBody>
      </p:sp>
      <p:sp>
        <p:nvSpPr>
          <p:cNvPr id="68" name="Shape 61"/>
          <p:cNvSpPr/>
          <p:nvPr/>
        </p:nvSpPr>
        <p:spPr>
          <a:xfrm>
            <a:off x="9701784" y="4850892"/>
            <a:ext cx="1847088" cy="457200"/>
          </a:xfrm>
          <a:prstGeom prst="roundRect">
            <a:avLst>
              <a:gd name="adj" fmla="val 12000"/>
            </a:avLst>
          </a:prstGeom>
          <a:solidFill>
            <a:srgbClr val="2E3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2"/>
          <p:cNvSpPr/>
          <p:nvPr/>
        </p:nvSpPr>
        <p:spPr>
          <a:xfrm>
            <a:off x="9701784" y="48508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SSO</a:t>
            </a:r>
            <a:endParaRPr lang="en-US" sz="1000" dirty="0"/>
          </a:p>
        </p:txBody>
      </p:sp>
      <p:sp>
        <p:nvSpPr>
          <p:cNvPr id="70" name="Text 6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raw enterprise content is ingested, indexed, retrieved, and generated into cited answers delivered through governed interfaces.</a:t>
            </a:r>
            <a:endParaRPr lang="en-US" sz="1100" dirty="0"/>
          </a:p>
        </p:txBody>
      </p:sp>
      <p:sp>
        <p:nvSpPr>
          <p:cNvPr id="71" name="Text 6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900" dirty="0"/>
          </a:p>
        </p:txBody>
      </p:sp>
      <p:sp>
        <p:nvSpPr>
          <p:cNvPr id="72" name="Text 6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651760" y="12344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46504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51760" y="174650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Python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51760" y="225856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OpenAI GPT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770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51760" y="277063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2826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51760" y="32826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/ Pinecone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51760" y="379476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1234440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1234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0" y="123444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1746504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92240" y="17465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174650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2258568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0" y="2258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225856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2770632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92240" y="2770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277063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3282696"/>
            <a:ext cx="54406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0" y="32826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32826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1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/ AKS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GENAI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Use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scenarios where conversational, cited AI transforms how employees find and use knowledge.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icons/messa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4505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2608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Q&amp;A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28269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policy or process questions in natural language and get direct, cited answers.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498848" y="23500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boo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4505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92608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Compliance Lookup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98848" y="328269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surface the exact clause in HR, legal, or compliance documents.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247888" y="235000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icons/mail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45059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7888" y="292608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 &amp; Ticket Summarization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47888" y="328269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long email threads or support tickets with linked source context.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icons/us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80060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Assistant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9808" y="51572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self-serve answers about tools, processes, and team knowledge.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4023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498848" y="4224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icons/trending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32511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98848" y="480060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Briefing Generation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98848" y="51572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briefs and reports grounded in the latest internal documents.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40233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8247888" y="4224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icons/ey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32511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47888" y="4800600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Discovery Support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247888" y="5157216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locate and cite evidence across repositories for audits or investigations.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search experience with transparent, citation-first design.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6F8FC"/>
          </a:solidFill>
          <a:ln w="15875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371600" cy="3703320"/>
          </a:xfrm>
          <a:prstGeom prst="rect">
            <a:avLst/>
          </a:prstGeom>
          <a:solidFill>
            <a:srgbClr val="EBEF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6027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Docs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986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4370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48840" y="283464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CE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remote work reimbursement policy?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342900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04288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may expense up to $75/month for home-office internet, per the Remote Work Policy.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04288" y="416052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EFE3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304288" y="41605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HR_Policy.pdf p.4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04288" y="448056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EFE3C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04288" y="4480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Finance_Handbook.docx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48840" y="5760720"/>
            <a:ext cx="370332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C7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3172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company knowledge...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Search &amp; Cited Answers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1945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6F8FC"/>
          </a:solidFill>
          <a:ln w="15875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09360" y="2194560"/>
            <a:ext cx="5349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92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Access Console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2816352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92240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48,210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3264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02168" y="2816352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02168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02168" y="3264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912096" y="2816352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912096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3,940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12096" y="3264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/ Day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92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 POLICIES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4114800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83680" y="4114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All-Staff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332720" y="416966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9EE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0332720" y="4169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492240" y="4535424"/>
            <a:ext cx="4983480" cy="384048"/>
          </a:xfrm>
          <a:prstGeom prst="rect">
            <a:avLst/>
          </a:prstGeom>
          <a:solidFill>
            <a:srgbClr val="EEF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83680" y="45354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Reports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03920" y="45354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Exec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332720" y="45902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4D9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0332720" y="4590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5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492240" y="4956048"/>
            <a:ext cx="4983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83680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Contracts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03920" y="4956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Only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332720" y="501091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4D9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0332720" y="50109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5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92240" y="5376672"/>
            <a:ext cx="4983480" cy="384048"/>
          </a:xfrm>
          <a:prstGeom prst="rect">
            <a:avLst/>
          </a:prstGeom>
          <a:solidFill>
            <a:srgbClr val="EEF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583680" y="5376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Wiki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03920" y="53766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332720" y="54315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9EE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10332720" y="54315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7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09360" y="64282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Governance Dashboard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6581C-43F3-6967-86A1-E95A430C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E353E-CA1A-9880-C4E6-AEA7DC35B8E8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 Wireframes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E3E8D-3A14-D3CD-0F17-F0DCB77A9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10" b="22710"/>
          <a:stretch>
            <a:fillRect/>
          </a:stretch>
        </p:blipFill>
        <p:spPr>
          <a:xfrm>
            <a:off x="4212718" y="1128680"/>
            <a:ext cx="7670887" cy="441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3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5BEB6-EE15-B1A9-23E8-4AAC1D4D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72F9C88-B7EB-4360-347E-33ED73A37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E5CE64-DAEF-C384-1ABA-C76BFCCEA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09B6A9-B616-197E-348C-F6C49BE56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E4D33B-09BF-FDD9-A168-2A04776F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683EA-07DE-6720-89BF-3685320E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04" b="7804"/>
          <a:stretch/>
        </p:blipFill>
        <p:spPr>
          <a:xfrm>
            <a:off x="454888" y="633663"/>
            <a:ext cx="11277600" cy="594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F3F5F-C649-DC98-D571-10DE3ECAF7D2}"/>
              </a:ext>
            </a:extLst>
          </p:cNvPr>
          <p:cNvSpPr txBox="1"/>
          <p:nvPr/>
        </p:nvSpPr>
        <p:spPr>
          <a:xfrm>
            <a:off x="452576" y="42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</a:t>
            </a:r>
            <a:endParaRPr lang="en-US" sz="3200" dirty="0">
              <a:solidFill>
                <a:schemeClr val="bg2"/>
              </a:solidFill>
            </a:endParaRPr>
          </a:p>
          <a:p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84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EF66-27BD-7548-9A9D-910CD2A9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11" y="847292"/>
            <a:ext cx="10812379" cy="5852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0C71F6-43A2-536D-A771-C80A0D703262}"/>
              </a:ext>
            </a:extLst>
          </p:cNvPr>
          <p:cNvSpPr txBox="1"/>
          <p:nvPr/>
        </p:nvSpPr>
        <p:spPr>
          <a:xfrm>
            <a:off x="566799" y="10457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</a:t>
            </a:r>
            <a:endParaRPr lang="en-US" sz="3200" dirty="0">
              <a:solidFill>
                <a:schemeClr val="bg2"/>
              </a:solidFill>
            </a:endParaRPr>
          </a:p>
          <a:p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46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F2112-6B72-6327-0FA4-B167161D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1EE6132-8E37-3C36-BEA1-A96291451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14C4DF-6FCB-A18A-2D56-BB2A6B3C0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12D2B0-60B8-F6CB-1174-2A48572F4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7A3691-A9D9-462F-2C20-1455BA152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B99E75-BD8D-B996-47AB-8AEC37CB1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B62B6A-D50D-FF7A-67D0-7DAC134FE242}"/>
              </a:ext>
            </a:extLst>
          </p:cNvPr>
          <p:cNvSpPr txBox="1"/>
          <p:nvPr/>
        </p:nvSpPr>
        <p:spPr>
          <a:xfrm>
            <a:off x="314960" y="-82265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</a:t>
            </a:r>
            <a:endParaRPr lang="en-US" sz="3200" dirty="0">
              <a:solidFill>
                <a:schemeClr val="bg2"/>
              </a:solidFill>
            </a:endParaRPr>
          </a:p>
          <a:p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58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9B004-AA0E-E082-9E9F-4E820341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C8A9D-67C5-CC46-26D6-A712B80F1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33" y="792266"/>
            <a:ext cx="9039693" cy="594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620CB-AB61-269D-3D20-33FFA956918A}"/>
              </a:ext>
            </a:extLst>
          </p:cNvPr>
          <p:cNvSpPr txBox="1"/>
          <p:nvPr/>
        </p:nvSpPr>
        <p:spPr>
          <a:xfrm>
            <a:off x="457200" y="131523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Wireframes</a:t>
            </a:r>
            <a:endParaRPr lang="en-US" sz="3200" dirty="0">
              <a:solidFill>
                <a:schemeClr val="bg2"/>
              </a:solidFill>
            </a:endParaRPr>
          </a:p>
          <a:p>
            <a:endParaRPr lang="en-IN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03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from foundation to enterprise-wide, governed knowledge access.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0698480" cy="0"/>
          </a:xfrm>
          <a:prstGeom prst="line">
            <a:avLst/>
          </a:prstGeom>
          <a:noFill/>
          <a:ln w="254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527048" y="2523744"/>
            <a:ext cx="256032" cy="256032"/>
          </a:xfrm>
          <a:prstGeom prst="ellipse">
            <a:avLst/>
          </a:prstGeom>
          <a:solidFill>
            <a:srgbClr val="F2A93B"/>
          </a:solidFill>
          <a:ln w="381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9718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" y="31363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8096" y="3685032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architecture, connect pilot data sources, stand up vector store &amp; security baseline.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9896" y="2523744"/>
            <a:ext cx="256032" cy="256032"/>
          </a:xfrm>
          <a:prstGeom prst="ellipse">
            <a:avLst/>
          </a:prstGeom>
          <a:solidFill>
            <a:srgbClr val="F2A93B"/>
          </a:solidFill>
          <a:ln w="381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67912" y="19654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67912" y="2257285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34640" y="2971800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80944" y="31363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Indexing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80944" y="3685032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ingestion pipelines, chunking, embeddings, and metadata tagging at scale.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19088" y="2545083"/>
            <a:ext cx="256032" cy="256032"/>
          </a:xfrm>
          <a:prstGeom prst="ellipse">
            <a:avLst/>
          </a:prstGeom>
          <a:solidFill>
            <a:srgbClr val="F2A93B"/>
          </a:solidFill>
          <a:ln w="381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74336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4336" y="231343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73852" y="2953513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861304" y="3116821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Citations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15584" y="3483704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retrieval, LLM orchestration, and citation-linked answer generation.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79408" y="2515965"/>
            <a:ext cx="256032" cy="256032"/>
          </a:xfrm>
          <a:prstGeom prst="ellipse">
            <a:avLst/>
          </a:prstGeom>
          <a:solidFill>
            <a:srgbClr val="F2A93B"/>
          </a:solidFill>
          <a:ln w="381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980145" y="20619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2288167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66760" y="3008377"/>
            <a:ext cx="1920240" cy="2606040"/>
          </a:xfrm>
          <a:prstGeom prst="roundRect">
            <a:avLst>
              <a:gd name="adj" fmla="val 3810"/>
            </a:avLst>
          </a:prstGeom>
          <a:solidFill>
            <a:srgbClr val="232B63"/>
          </a:solidFill>
          <a:ln w="12700">
            <a:solidFill>
              <a:srgbClr val="3B4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43544" y="3136713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&amp; Governance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86216" y="3482740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chat/search UI, RBAC, audit logging, and policy controls.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00032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00032" y="231343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619488" y="31363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619488" y="3685032"/>
            <a:ext cx="1627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728</Words>
  <Application>Microsoft Office PowerPoint</Application>
  <PresentationFormat>Widescreen</PresentationFormat>
  <Paragraphs>190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S0524612</cp:lastModifiedBy>
  <cp:revision>8</cp:revision>
  <dcterms:created xsi:type="dcterms:W3CDTF">2026-07-15T14:03:22Z</dcterms:created>
  <dcterms:modified xsi:type="dcterms:W3CDTF">2026-07-15T16:26:01Z</dcterms:modified>
</cp:coreProperties>
</file>